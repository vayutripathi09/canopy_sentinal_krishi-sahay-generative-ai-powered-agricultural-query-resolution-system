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14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97100" y="394080"/>
            <a:ext cx="4749800" cy="4038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79219" y="386715"/>
            <a:ext cx="5848350" cy="506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5417" y="1123950"/>
            <a:ext cx="5848350" cy="39369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pc="80" dirty="0"/>
              <a:t>Title</a:t>
            </a:r>
            <a:r>
              <a:rPr spc="80" dirty="0"/>
              <a:t> </a:t>
            </a:r>
            <a:r>
              <a:rPr dirty="0"/>
              <a:t>and</a:t>
            </a:r>
            <a:r>
              <a:rPr spc="150" dirty="0"/>
              <a:t> </a:t>
            </a:r>
            <a:r>
              <a:rPr dirty="0"/>
              <a:t>Team</a:t>
            </a:r>
            <a:r>
              <a:rPr spc="130" dirty="0"/>
              <a:t> </a:t>
            </a:r>
            <a:r>
              <a:rPr spc="-10" dirty="0"/>
              <a:t>Details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7800" y="1885950"/>
            <a:ext cx="5814695" cy="2516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accent3"/>
                </a:solidFill>
              </a:rPr>
              <a:t>Canopy Sentinel – Krishi Sahay</a:t>
            </a:r>
            <a:br>
              <a:rPr lang="en-IN" sz="1600" dirty="0"/>
            </a:br>
            <a:r>
              <a:rPr lang="en-IN" sz="1600" dirty="0"/>
              <a:t>AI-Powered Agricultural Land Intelligence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500" b="1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dirty="0">
                <a:latin typeface="Arial"/>
                <a:cs typeface="Arial"/>
              </a:rPr>
              <a:t>Team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spc="-20" dirty="0">
                <a:latin typeface="Arial"/>
                <a:cs typeface="Arial"/>
              </a:rPr>
              <a:t>Name:</a:t>
            </a:r>
            <a:r>
              <a:rPr lang="en-US" sz="1500" b="1" spc="-20" dirty="0">
                <a:latin typeface="Arial"/>
                <a:cs typeface="Arial"/>
              </a:rPr>
              <a:t> </a:t>
            </a:r>
            <a:r>
              <a:rPr lang="en-US" sz="1500" spc="-20" dirty="0" err="1">
                <a:latin typeface="Arial"/>
                <a:cs typeface="Arial"/>
              </a:rPr>
              <a:t>Vyomveda</a:t>
            </a:r>
            <a:endParaRPr lang="en-US" sz="1500" spc="-2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dirty="0">
                <a:latin typeface="Arial"/>
                <a:cs typeface="Arial"/>
              </a:rPr>
              <a:t>Team</a:t>
            </a:r>
            <a:r>
              <a:rPr sz="1500" b="1" spc="-5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Leader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Name:</a:t>
            </a:r>
            <a:r>
              <a:rPr lang="en-US" sz="1500" b="1" spc="-10" dirty="0">
                <a:latin typeface="Arial"/>
                <a:cs typeface="Arial"/>
              </a:rPr>
              <a:t> </a:t>
            </a:r>
            <a:r>
              <a:rPr lang="en-US" sz="1500" spc="-10" dirty="0">
                <a:latin typeface="Arial"/>
                <a:cs typeface="Arial"/>
              </a:rPr>
              <a:t>Vayu Nandan Tripathi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5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500" b="1" spc="-10" dirty="0">
                <a:latin typeface="Arial"/>
                <a:cs typeface="Arial"/>
              </a:rPr>
              <a:t>I</a:t>
            </a:r>
            <a:r>
              <a:rPr sz="1500" b="1" dirty="0">
                <a:latin typeface="Arial"/>
                <a:cs typeface="Arial"/>
              </a:rPr>
              <a:t>nstitute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spc="-20" dirty="0">
                <a:latin typeface="Arial"/>
                <a:cs typeface="Arial"/>
              </a:rPr>
              <a:t>Name:</a:t>
            </a:r>
            <a:r>
              <a:rPr lang="en-US" sz="1500" b="1" spc="-20" dirty="0">
                <a:latin typeface="Arial"/>
                <a:cs typeface="Arial"/>
              </a:rPr>
              <a:t> </a:t>
            </a:r>
            <a:r>
              <a:rPr lang="en-US" sz="1500" spc="-20" dirty="0" err="1">
                <a:latin typeface="Arial"/>
                <a:cs typeface="Arial"/>
              </a:rPr>
              <a:t>Galgotias</a:t>
            </a:r>
            <a:r>
              <a:rPr lang="en-US" sz="1500" spc="-20" dirty="0">
                <a:latin typeface="Arial"/>
                <a:cs typeface="Arial"/>
              </a:rPr>
              <a:t> University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500" b="1" spc="-2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dirty="0">
                <a:latin typeface="Arial"/>
                <a:cs typeface="Arial"/>
              </a:rPr>
              <a:t>Members</a:t>
            </a:r>
            <a:r>
              <a:rPr sz="1500" b="1" spc="-6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name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lang="en-US" sz="1500" b="1" spc="-50" dirty="0">
                <a:latin typeface="Arial"/>
                <a:cs typeface="Arial"/>
              </a:rPr>
              <a:t>: </a:t>
            </a:r>
            <a:r>
              <a:rPr lang="en-US" sz="1500" spc="-50" dirty="0">
                <a:latin typeface="Arial"/>
                <a:cs typeface="Arial"/>
              </a:rPr>
              <a:t>Abhinay Singh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500" spc="-50" dirty="0">
                <a:latin typeface="Arial"/>
                <a:cs typeface="Arial"/>
              </a:rPr>
              <a:t>                                 Harsh Raj</a:t>
            </a:r>
            <a:endParaRPr sz="1500" dirty="0">
              <a:latin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85B72A-BEDF-FEA7-3BD7-E604CD222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690" y="0"/>
            <a:ext cx="3686619" cy="9732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2C4FB8-5B12-4125-91F1-702DC6090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529" y="0"/>
            <a:ext cx="1420386" cy="14203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5D4FDE-EEBB-C0AA-2642-1DA7996CA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81914" y="-135683"/>
            <a:ext cx="2746025" cy="15446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9219" y="386715"/>
            <a:ext cx="5848350" cy="454355"/>
          </a:xfrm>
          <a:prstGeom prst="rect">
            <a:avLst/>
          </a:prstGeom>
        </p:spPr>
        <p:txBody>
          <a:bodyPr vert="horz" wrap="square" lIns="0" tIns="76581" rIns="0" bIns="0" rtlCol="0">
            <a:spAutoFit/>
          </a:bodyPr>
          <a:lstStyle/>
          <a:p>
            <a:pPr marL="158242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Problem</a:t>
            </a:r>
            <a:r>
              <a:rPr spc="114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spc="6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spc="-10" dirty="0">
                <a:solidFill>
                  <a:schemeClr val="accent3">
                    <a:lumMod val="75000"/>
                  </a:schemeClr>
                </a:solidFill>
              </a:rPr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152401" y="1266825"/>
            <a:ext cx="5029200" cy="3609975"/>
          </a:xfrm>
          <a:custGeom>
            <a:avLst/>
            <a:gdLst/>
            <a:ahLst/>
            <a:cxnLst/>
            <a:rect l="l" t="t" r="r" b="b"/>
            <a:pathLst>
              <a:path w="5876925" h="3609975">
                <a:moveTo>
                  <a:pt x="0" y="3609975"/>
                </a:moveTo>
                <a:lnTo>
                  <a:pt x="5876925" y="3609975"/>
                </a:lnTo>
                <a:lnTo>
                  <a:pt x="5876925" y="0"/>
                </a:lnTo>
                <a:lnTo>
                  <a:pt x="0" y="0"/>
                </a:lnTo>
                <a:lnTo>
                  <a:pt x="0" y="360997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7175" y="1395413"/>
            <a:ext cx="4803801" cy="3459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</a:rPr>
              <a:t>Problem</a:t>
            </a:r>
          </a:p>
          <a:p>
            <a:pPr algn="just"/>
            <a:r>
              <a:rPr lang="en-US" sz="900" b="1" dirty="0"/>
              <a:t>Farmers often acquire agricultural land and plan crops without access to accurate, real-time information about soil fertility, water availability, climate conditions, and surrounding land productivity. Traditional soil testing is time-consuming, expensive, and limited in coverage, while satellite and environmental data remain inaccessible to rural communities due to complex platforms and lack of user-friendly tools.</a:t>
            </a:r>
            <a:endParaRPr lang="en-IN" sz="900" b="1" dirty="0"/>
          </a:p>
          <a:p>
            <a:endParaRPr lang="en-US" sz="1200" dirty="0"/>
          </a:p>
          <a:p>
            <a:r>
              <a:rPr lang="en-IN" sz="1600" b="1" dirty="0">
                <a:solidFill>
                  <a:srgbClr val="002060"/>
                </a:solidFill>
              </a:rPr>
              <a:t>Solution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en-US" sz="900" b="1" dirty="0">
                <a:latin typeface="Arial" panose="020B0604020202020204" pitchFamily="34" charset="0"/>
              </a:rPr>
              <a:t>We propose a smart Android application built using Kotlin that integrates NASA satellite data and geospatial maps to help farmers analyze agricultural land scientifically.</a:t>
            </a: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Uses </a:t>
            </a:r>
            <a:r>
              <a:rPr lang="en-IN" sz="1200" b="1" dirty="0"/>
              <a:t>satellite imagery and geospatial APIs</a:t>
            </a:r>
            <a:r>
              <a:rPr lang="en-IN" sz="1200" dirty="0"/>
              <a:t> to monitor forest cover changes.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Detects deforestation zones using </a:t>
            </a:r>
            <a:r>
              <a:rPr lang="en-IN" sz="1200" b="1" dirty="0"/>
              <a:t>vegetation analysis (NDVI) and spatial data</a:t>
            </a:r>
            <a:r>
              <a:rPr lang="en-IN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Provides </a:t>
            </a:r>
            <a:r>
              <a:rPr lang="en-IN" sz="1200" b="1" dirty="0"/>
              <a:t>interactive maps, heatmaps, alerts, and analytics</a:t>
            </a:r>
            <a:r>
              <a:rPr lang="en-IN" sz="1200" dirty="0"/>
              <a:t> through a user-friendly interface.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Enables </a:t>
            </a:r>
            <a:r>
              <a:rPr lang="en-IN" sz="1200" b="1" dirty="0"/>
              <a:t>early awareness, faster intervention, and data-driven conservation decisions</a:t>
            </a:r>
            <a:r>
              <a:rPr lang="en-IN" sz="1200" dirty="0"/>
              <a:t>.</a:t>
            </a:r>
          </a:p>
          <a:p>
            <a:endParaRPr lang="en-US" sz="1200" dirty="0"/>
          </a:p>
        </p:txBody>
      </p:sp>
      <p:sp>
        <p:nvSpPr>
          <p:cNvPr id="6" name="object 6"/>
          <p:cNvSpPr/>
          <p:nvPr/>
        </p:nvSpPr>
        <p:spPr>
          <a:xfrm>
            <a:off x="5336376" y="1395412"/>
            <a:ext cx="3517175" cy="3438525"/>
          </a:xfrm>
          <a:custGeom>
            <a:avLst/>
            <a:gdLst/>
            <a:ahLst/>
            <a:cxnLst/>
            <a:rect l="l" t="t" r="r" b="b"/>
            <a:pathLst>
              <a:path w="2581275" h="3438525">
                <a:moveTo>
                  <a:pt x="0" y="3438525"/>
                </a:moveTo>
                <a:lnTo>
                  <a:pt x="2581275" y="3438525"/>
                </a:lnTo>
                <a:lnTo>
                  <a:pt x="2581275" y="0"/>
                </a:lnTo>
                <a:lnTo>
                  <a:pt x="0" y="0"/>
                </a:lnTo>
                <a:lnTo>
                  <a:pt x="0" y="343852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A825E00-7032-7F2D-CB66-02DB3365A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550" y="1963234"/>
            <a:ext cx="3742574" cy="21104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249486" y="438150"/>
            <a:ext cx="4749800" cy="4038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Methodology</a:t>
            </a:r>
            <a:r>
              <a:rPr spc="11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&amp;</a:t>
            </a:r>
            <a:r>
              <a:rPr spc="85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spc="-10" dirty="0">
                <a:solidFill>
                  <a:schemeClr val="accent3">
                    <a:lumMod val="75000"/>
                  </a:schemeClr>
                </a:solidFill>
              </a:rPr>
              <a:t>Implementation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628650" y="1285875"/>
            <a:ext cx="7991475" cy="3581400"/>
          </a:xfrm>
          <a:custGeom>
            <a:avLst/>
            <a:gdLst/>
            <a:ahLst/>
            <a:cxnLst/>
            <a:rect l="l" t="t" r="r" b="b"/>
            <a:pathLst>
              <a:path w="7991475" h="3581400">
                <a:moveTo>
                  <a:pt x="0" y="3581400"/>
                </a:moveTo>
                <a:lnTo>
                  <a:pt x="7991475" y="3581400"/>
                </a:lnTo>
                <a:lnTo>
                  <a:pt x="7991475" y="0"/>
                </a:lnTo>
                <a:lnTo>
                  <a:pt x="0" y="0"/>
                </a:lnTo>
                <a:lnTo>
                  <a:pt x="0" y="358140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2DDEBCC-61AC-3E92-FDFC-BA3035314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4" y="1414581"/>
            <a:ext cx="7781925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Canopy Sentinel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 follows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and data-driven approach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across devices. enable real-time deforestation monitoring and accurate visualization.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developed using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 in Android Studio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following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Material Design principles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ensure smooth navigation, responsive layouts, and a user-friendly experience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integrates Google Geo Tools API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fetch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satellite imagery, vegetation indices (NDVI), and deforestation indicators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global data sources.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is retrieved using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processed in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 JSON format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enabling efficient communication and low latency.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structured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data-processing pipeline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filters and parses satellite responses to extract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location-specific deforestation metrics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even under limited connectivity.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dashboard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visualizes insights through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maps, heatmaps, acres of forest loss, and zone-wise analytics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updating dynamically based on user-selected regions.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400" b="1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b="1" dirty="0"/>
              <a:t>This approach ensures high performance, real-time insights, and accessibility for researchers, NGOs, and authorities.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B5D806-4A6D-7EFD-AE4C-A82BAFA83615}"/>
              </a:ext>
            </a:extLst>
          </p:cNvPr>
          <p:cNvSpPr/>
          <p:nvPr/>
        </p:nvSpPr>
        <p:spPr>
          <a:xfrm>
            <a:off x="600075" y="1035381"/>
            <a:ext cx="8039100" cy="38872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9219" y="386715"/>
            <a:ext cx="5848350" cy="482824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873885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Technology</a:t>
            </a:r>
            <a:r>
              <a:rPr spc="135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spc="-20" dirty="0">
                <a:solidFill>
                  <a:schemeClr val="accent3">
                    <a:lumMod val="75000"/>
                  </a:schemeClr>
                </a:solidFill>
              </a:rPr>
              <a:t>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DB0268-43FF-834C-FEFF-8B68F888215E}"/>
              </a:ext>
            </a:extLst>
          </p:cNvPr>
          <p:cNvSpPr txBox="1"/>
          <p:nvPr/>
        </p:nvSpPr>
        <p:spPr>
          <a:xfrm>
            <a:off x="902969" y="1333500"/>
            <a:ext cx="3429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rgbClr val="002060"/>
                </a:solidFill>
              </a:rPr>
              <a:t>Core 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 err="1"/>
              <a:t>JavaCV</a:t>
            </a:r>
            <a:r>
              <a:rPr lang="en-IN" sz="1200" b="1" dirty="0"/>
              <a:t> (OpenCV):</a:t>
            </a:r>
            <a:r>
              <a:rPr lang="en-IN" sz="1200" dirty="0"/>
              <a:t> Image processing and computer vision for deforestation detection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 err="1"/>
              <a:t>GeoTools</a:t>
            </a:r>
            <a:r>
              <a:rPr lang="en-IN" sz="1200" b="1" dirty="0"/>
              <a:t>:</a:t>
            </a:r>
            <a:r>
              <a:rPr lang="en-IN" sz="1200" dirty="0"/>
              <a:t> Geospatial data handling and spatial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Machine Learning:</a:t>
            </a:r>
            <a:r>
              <a:rPr lang="en-IN" sz="1200" dirty="0"/>
              <a:t> TensorFlow / Deep Learning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9372ED-1B06-532B-AAF3-5834A76F5EAA}"/>
              </a:ext>
            </a:extLst>
          </p:cNvPr>
          <p:cNvSpPr txBox="1"/>
          <p:nvPr/>
        </p:nvSpPr>
        <p:spPr>
          <a:xfrm>
            <a:off x="4570094" y="1411396"/>
            <a:ext cx="404050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rgbClr val="002060"/>
                </a:solidFill>
              </a:rPr>
              <a:t>Desktop Application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JavaFX:</a:t>
            </a:r>
            <a:r>
              <a:rPr lang="en-IN" sz="1200" dirty="0"/>
              <a:t> Desktop user interface development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PostgreSQL + </a:t>
            </a:r>
            <a:r>
              <a:rPr lang="en-IN" sz="1200" b="1" dirty="0" err="1"/>
              <a:t>PostGIS</a:t>
            </a:r>
            <a:r>
              <a:rPr lang="en-IN" sz="1200" b="1" dirty="0"/>
              <a:t>:</a:t>
            </a:r>
            <a:r>
              <a:rPr lang="en-IN" sz="1200" dirty="0"/>
              <a:t> Local geospatial data storage and spatial querying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A933AC-81BE-3551-F85F-3C8D29DE3FDF}"/>
              </a:ext>
            </a:extLst>
          </p:cNvPr>
          <p:cNvSpPr txBox="1"/>
          <p:nvPr/>
        </p:nvSpPr>
        <p:spPr>
          <a:xfrm>
            <a:off x="899532" y="3096667"/>
            <a:ext cx="340386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rgbClr val="002060"/>
                </a:solidFill>
              </a:rPr>
              <a:t>Web Application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Backend:</a:t>
            </a:r>
            <a:r>
              <a:rPr lang="en-IN" sz="1200" dirty="0"/>
              <a:t> Spring Boot (Java)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Frontend:</a:t>
            </a:r>
            <a:r>
              <a:rPr lang="en-IN" sz="1200" dirty="0"/>
              <a:t> React (JavaScript)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Database:</a:t>
            </a:r>
            <a:r>
              <a:rPr lang="en-IN" sz="1200" dirty="0"/>
              <a:t> PostgreSQL + </a:t>
            </a:r>
            <a:r>
              <a:rPr lang="en-IN" sz="1200" dirty="0" err="1"/>
              <a:t>PostGIS</a:t>
            </a:r>
            <a:r>
              <a:rPr lang="en-IN" sz="1200" dirty="0"/>
              <a:t> (spatial database extension)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APIs:</a:t>
            </a:r>
            <a:r>
              <a:rPr lang="en-IN" sz="1200" dirty="0"/>
              <a:t> NASA </a:t>
            </a:r>
            <a:r>
              <a:rPr lang="en-IN" sz="1200" dirty="0" err="1"/>
              <a:t>Earthdata</a:t>
            </a:r>
            <a:r>
              <a:rPr lang="en-IN" sz="1200" dirty="0"/>
              <a:t>, Google Earth Engine for satellite imagery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B21147-29A2-AC03-4059-F252EFFB66BF}"/>
              </a:ext>
            </a:extLst>
          </p:cNvPr>
          <p:cNvSpPr txBox="1"/>
          <p:nvPr/>
        </p:nvSpPr>
        <p:spPr>
          <a:xfrm>
            <a:off x="4619625" y="2979004"/>
            <a:ext cx="359394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rgbClr val="002060"/>
                </a:solidFill>
              </a:rPr>
              <a:t>Additional Tools &amp; Libraries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Hibernate / JPA:</a:t>
            </a:r>
            <a:r>
              <a:rPr lang="en-IN" sz="1200" dirty="0"/>
              <a:t> ORM and database mapping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Leaflet.js / </a:t>
            </a:r>
            <a:r>
              <a:rPr lang="en-IN" sz="1200" b="1" dirty="0" err="1"/>
              <a:t>OpenLayers</a:t>
            </a:r>
            <a:r>
              <a:rPr lang="en-IN" sz="1200" b="1" dirty="0"/>
              <a:t>:</a:t>
            </a:r>
            <a:r>
              <a:rPr lang="en-IN" sz="1200" dirty="0"/>
              <a:t> Web-based map visualization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Maven / Gradle:</a:t>
            </a:r>
            <a:r>
              <a:rPr lang="en-IN" sz="1200" dirty="0"/>
              <a:t> Java build and dependency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Docker:</a:t>
            </a:r>
            <a:r>
              <a:rPr lang="en-IN" sz="1200" dirty="0"/>
              <a:t> Containerized deployment </a:t>
            </a:r>
            <a:r>
              <a:rPr lang="en-IN" sz="1200" i="1" dirty="0"/>
              <a:t>(optional)</a:t>
            </a: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Cloud:</a:t>
            </a:r>
            <a:r>
              <a:rPr lang="en-IN" sz="1200" dirty="0"/>
              <a:t> AWS / Azure / GCP </a:t>
            </a:r>
            <a:r>
              <a:rPr lang="en-IN" sz="1200" i="1" dirty="0"/>
              <a:t>(for scalable deployments)</a:t>
            </a:r>
            <a:endParaRPr lang="en-IN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5850" y="1343025"/>
            <a:ext cx="3952875" cy="3371850"/>
          </a:xfrm>
          <a:custGeom>
            <a:avLst/>
            <a:gdLst/>
            <a:ahLst/>
            <a:cxnLst/>
            <a:rect l="l" t="t" r="r" b="b"/>
            <a:pathLst>
              <a:path w="3952875" h="3371850">
                <a:moveTo>
                  <a:pt x="0" y="3371850"/>
                </a:moveTo>
                <a:lnTo>
                  <a:pt x="3952875" y="3371850"/>
                </a:lnTo>
                <a:lnTo>
                  <a:pt x="3952875" y="0"/>
                </a:lnTo>
                <a:lnTo>
                  <a:pt x="0" y="0"/>
                </a:lnTo>
                <a:lnTo>
                  <a:pt x="0" y="337185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0541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Flowchart</a:t>
            </a:r>
            <a:r>
              <a:rPr spc="16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&amp;</a:t>
            </a:r>
            <a:r>
              <a:rPr spc="9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Supporting</a:t>
            </a:r>
            <a:r>
              <a:rPr spc="7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spc="-10" dirty="0">
                <a:solidFill>
                  <a:schemeClr val="accent3">
                    <a:lumMod val="75000"/>
                  </a:schemeClr>
                </a:solidFill>
              </a:rPr>
              <a:t>Images</a:t>
            </a:r>
          </a:p>
        </p:txBody>
      </p:sp>
      <p:sp>
        <p:nvSpPr>
          <p:cNvPr id="5" name="object 5"/>
          <p:cNvSpPr/>
          <p:nvPr/>
        </p:nvSpPr>
        <p:spPr>
          <a:xfrm>
            <a:off x="523875" y="1343025"/>
            <a:ext cx="3962400" cy="3371850"/>
          </a:xfrm>
          <a:custGeom>
            <a:avLst/>
            <a:gdLst/>
            <a:ahLst/>
            <a:cxnLst/>
            <a:rect l="l" t="t" r="r" b="b"/>
            <a:pathLst>
              <a:path w="3962400" h="3371850">
                <a:moveTo>
                  <a:pt x="0" y="3371850"/>
                </a:moveTo>
                <a:lnTo>
                  <a:pt x="3962400" y="3371850"/>
                </a:lnTo>
                <a:lnTo>
                  <a:pt x="3962400" y="0"/>
                </a:lnTo>
                <a:lnTo>
                  <a:pt x="0" y="0"/>
                </a:lnTo>
                <a:lnTo>
                  <a:pt x="0" y="337185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187D0C-6BD8-8AF7-B026-60F09B22D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9201" y="1444686"/>
            <a:ext cx="3724274" cy="31844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251D6A-A42E-58F8-630A-270D5B1F1C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" r="2736"/>
          <a:stretch>
            <a:fillRect/>
          </a:stretch>
        </p:blipFill>
        <p:spPr>
          <a:xfrm>
            <a:off x="594764" y="1421919"/>
            <a:ext cx="3810001" cy="3248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58F77BB-269D-791A-CB77-2A46C0217E6A}"/>
              </a:ext>
            </a:extLst>
          </p:cNvPr>
          <p:cNvSpPr/>
          <p:nvPr/>
        </p:nvSpPr>
        <p:spPr>
          <a:xfrm>
            <a:off x="114299" y="869155"/>
            <a:ext cx="8915400" cy="41549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9219" y="386715"/>
            <a:ext cx="5848350" cy="482440"/>
          </a:xfrm>
          <a:prstGeom prst="rect">
            <a:avLst/>
          </a:prstGeom>
        </p:spPr>
        <p:txBody>
          <a:bodyPr vert="horz" wrap="square" lIns="0" tIns="104394" rIns="0" bIns="0" rtlCol="0">
            <a:spAutoFit/>
          </a:bodyPr>
          <a:lstStyle/>
          <a:p>
            <a:pPr marL="112776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Feasibility</a:t>
            </a:r>
            <a:r>
              <a:rPr spc="125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spc="15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Market</a:t>
            </a:r>
            <a:r>
              <a:rPr spc="17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spc="-25" dirty="0">
                <a:solidFill>
                  <a:schemeClr val="accent3">
                    <a:lumMod val="75000"/>
                  </a:schemeClr>
                </a:solidFill>
              </a:rPr>
              <a:t>Use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92595F-D1A8-2478-2522-9121EB661D58}"/>
              </a:ext>
            </a:extLst>
          </p:cNvPr>
          <p:cNvSpPr txBox="1"/>
          <p:nvPr/>
        </p:nvSpPr>
        <p:spPr>
          <a:xfrm>
            <a:off x="427479" y="1123950"/>
            <a:ext cx="828904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002060"/>
                </a:solidFill>
              </a:rPr>
              <a:t>Feasibility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Built using </a:t>
            </a:r>
            <a:r>
              <a:rPr lang="en-US" sz="1200" b="1" dirty="0"/>
              <a:t>existing satellite data and open geospatial technologies</a:t>
            </a:r>
            <a:r>
              <a:rPr lang="en-US" sz="1200" dirty="0"/>
              <a:t>, making the system </a:t>
            </a:r>
            <a:r>
              <a:rPr lang="en-US" sz="1200" b="1" dirty="0"/>
              <a:t>cost-effective and scalable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Modular architecture allows </a:t>
            </a:r>
            <a:r>
              <a:rPr lang="en-US" sz="1200" b="1" dirty="0"/>
              <a:t>easy integration</a:t>
            </a:r>
            <a:r>
              <a:rPr lang="en-US" sz="1200" dirty="0"/>
              <a:t> with mobile, web, and desktop platforms.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Works in </a:t>
            </a:r>
            <a:r>
              <a:rPr lang="en-US" sz="1200" b="1" dirty="0"/>
              <a:t>real-time with low latency</a:t>
            </a:r>
            <a:r>
              <a:rPr lang="en-US" sz="1200" dirty="0"/>
              <a:t>, even in regions with limited infrastructure.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Can be extended with </a:t>
            </a:r>
            <a:r>
              <a:rPr lang="en-US" sz="1200" b="1" dirty="0"/>
              <a:t>AI/ML models</a:t>
            </a:r>
            <a:r>
              <a:rPr lang="en-US" sz="1200" dirty="0"/>
              <a:t> for predictive deforestation analysis in future.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Suitable for deployment at </a:t>
            </a:r>
            <a:r>
              <a:rPr lang="en-US" sz="1200" b="1" dirty="0"/>
              <a:t>local, national, and global levels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400" b="1" dirty="0">
                <a:solidFill>
                  <a:srgbClr val="002060"/>
                </a:solidFill>
              </a:rPr>
              <a:t>Market Use</a:t>
            </a:r>
          </a:p>
          <a:p>
            <a:r>
              <a:rPr lang="en-US" sz="1000" b="1" dirty="0"/>
              <a:t>      </a:t>
            </a:r>
            <a:r>
              <a:rPr lang="en-US" sz="1100" b="1" dirty="0"/>
              <a:t>Farmers – Land selection, crop planning, productivity improvement</a:t>
            </a:r>
          </a:p>
          <a:p>
            <a:r>
              <a:rPr lang="en-US" sz="1100" b="1" dirty="0"/>
              <a:t>      Agri Companies – Precision farming &amp; analytics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Government Forest Departments:</a:t>
            </a:r>
            <a:br>
              <a:rPr lang="en-US" sz="1100" dirty="0"/>
            </a:br>
            <a:r>
              <a:rPr lang="en-US" sz="1100" dirty="0"/>
              <a:t>Real-time monitoring, illegal logging detection, policy support, and resource planning.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NGOs &amp; Environmental Organizations:</a:t>
            </a:r>
            <a:br>
              <a:rPr lang="en-US" sz="1100" dirty="0"/>
            </a:br>
            <a:r>
              <a:rPr lang="en-US" sz="1100" dirty="0"/>
              <a:t>Field monitoring, conservation planning, and impact assessment.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Educational Institutions:</a:t>
            </a:r>
            <a:br>
              <a:rPr lang="en-US" sz="1100" dirty="0"/>
            </a:br>
            <a:r>
              <a:rPr lang="en-US" sz="1100" dirty="0"/>
              <a:t>Practical learning tool for environmental studies and climate awareness.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Researchers &amp; Analysts:</a:t>
            </a:r>
            <a:br>
              <a:rPr lang="en-US" sz="1100" dirty="0"/>
            </a:br>
            <a:r>
              <a:rPr lang="en-US" sz="1100" dirty="0"/>
              <a:t>Long-term forest trend analysis and biodiversity research.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Public &amp; Communities:</a:t>
            </a:r>
            <a:br>
              <a:rPr lang="en-US" sz="1100" dirty="0"/>
            </a:br>
            <a:r>
              <a:rPr lang="en-US" sz="1100" dirty="0"/>
              <a:t>Awareness generation through interactive maps and visual insights.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/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3238F05-25AC-FD03-2335-D682523ED7A0}"/>
              </a:ext>
            </a:extLst>
          </p:cNvPr>
          <p:cNvSpPr/>
          <p:nvPr/>
        </p:nvSpPr>
        <p:spPr>
          <a:xfrm>
            <a:off x="800100" y="978357"/>
            <a:ext cx="7543800" cy="37784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9219" y="386715"/>
            <a:ext cx="5848350" cy="482440"/>
          </a:xfrm>
          <a:prstGeom prst="rect">
            <a:avLst/>
          </a:prstGeom>
        </p:spPr>
        <p:txBody>
          <a:bodyPr vert="horz" wrap="square" lIns="0" tIns="104394" rIns="0" bIns="0" rtlCol="0">
            <a:spAutoFit/>
          </a:bodyPr>
          <a:lstStyle/>
          <a:p>
            <a:pPr marL="2260600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solidFill>
                  <a:schemeClr val="accent3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4ABA96-1C2F-501B-050F-9DB6FF3054F7}"/>
              </a:ext>
            </a:extLst>
          </p:cNvPr>
          <p:cNvSpPr txBox="1"/>
          <p:nvPr/>
        </p:nvSpPr>
        <p:spPr>
          <a:xfrm>
            <a:off x="1085850" y="1522303"/>
            <a:ext cx="7086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Canopy Sentinel</a:t>
            </a:r>
            <a:r>
              <a:rPr lang="en-US" sz="1400" dirty="0"/>
              <a:t> demonstrates how mobile technology combined with </a:t>
            </a:r>
            <a:r>
              <a:rPr lang="en-US" sz="1400" b="1" dirty="0"/>
              <a:t>real-time satellite data</a:t>
            </a:r>
            <a:r>
              <a:rPr lang="en-US" sz="1400" dirty="0"/>
              <a:t> can effectively address the global challenge of deforestation.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system bridges the gap between </a:t>
            </a:r>
            <a:r>
              <a:rPr lang="en-US" sz="1400" b="1" dirty="0"/>
              <a:t>complex geospatial data and user-friendly visualization</a:t>
            </a:r>
            <a:r>
              <a:rPr lang="en-US" sz="1400" dirty="0"/>
              <a:t>, making forest monitoring accessible to professionals and the general public.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By integrating </a:t>
            </a:r>
            <a:r>
              <a:rPr lang="en-US" sz="1400" b="1" dirty="0"/>
              <a:t>Google Geo Tools API</a:t>
            </a:r>
            <a:r>
              <a:rPr lang="en-US" sz="1400" dirty="0"/>
              <a:t>, satellite imagery, and interactive dashboards, the platform enables </a:t>
            </a:r>
            <a:r>
              <a:rPr lang="en-US" sz="1400" b="1" dirty="0"/>
              <a:t>near real-time monitoring</a:t>
            </a:r>
            <a:r>
              <a:rPr lang="en-US" sz="1400" dirty="0"/>
              <a:t> of forest regions such as the Amazon Basin.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Features like </a:t>
            </a:r>
            <a:r>
              <a:rPr lang="en-US" sz="1400" b="1" dirty="0"/>
              <a:t>heatmaps, location-based alerts, and interactive maps</a:t>
            </a:r>
            <a:r>
              <a:rPr lang="en-US" sz="1400" dirty="0"/>
              <a:t> enhance awareness and support informed decision-making.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project highlights the </a:t>
            </a:r>
            <a:r>
              <a:rPr lang="en-US" sz="1400" b="1" dirty="0"/>
              <a:t>feasibility, scalability, and real-world impact</a:t>
            </a:r>
            <a:r>
              <a:rPr lang="en-US" sz="1400" dirty="0"/>
              <a:t> of digital solutions in environmental conservation.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Canopy Sentinel reflects the potential of </a:t>
            </a:r>
            <a:r>
              <a:rPr lang="en-US" sz="1400" b="1" dirty="0"/>
              <a:t>open-source and geospatial technologies</a:t>
            </a:r>
            <a:r>
              <a:rPr lang="en-US" sz="1400" dirty="0"/>
              <a:t> in supporting sustainability and climate change mitigation.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787</Words>
  <Application>Microsoft Office PowerPoint</Application>
  <PresentationFormat>On-screen Show (16:9)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Title and Team Details</vt:lpstr>
      <vt:lpstr>Problem and Solution</vt:lpstr>
      <vt:lpstr>Methodology &amp; Implementation</vt:lpstr>
      <vt:lpstr>Technology Used</vt:lpstr>
      <vt:lpstr>Flowchart &amp; Supporting Images</vt:lpstr>
      <vt:lpstr>Feasibility and Market Use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Abhinay Singh</cp:lastModifiedBy>
  <cp:revision>5</cp:revision>
  <dcterms:created xsi:type="dcterms:W3CDTF">2025-12-26T11:43:50Z</dcterms:created>
  <dcterms:modified xsi:type="dcterms:W3CDTF">2026-02-10T05:01:00Z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2025-12-26T00:00:00Z</vt:filetime>
  </property>
  <property fmtid="{D5CDD505-2E9C-101B-9397-08002B2CF9AE}" pid="3" name="LastSaved">
    <vt:filetime>2025-12-26T00:00:00Z</vt:filetime>
  </property>
</Properties>
</file>